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512ed06bd4a4f" /><Relationship Type="http://schemas.openxmlformats.org/officeDocument/2006/relationships/extended-properties" Target="/docProps/app.xml" Id="R80ae97dcbb2842c6" /><Relationship Type="http://schemas.openxmlformats.org/officeDocument/2006/relationships/officeDocument" Target="/ppt/presentation.xml" Id="R1193e696c303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0448d223ed4a15"/>
  </p:sldMasterIdLst>
  <p:notesMasterIdLst>
    <p:notesMasterId xmlns:r="http://schemas.openxmlformats.org/officeDocument/2006/relationships" r:id="Rdbb5027a369c4536"/>
  </p:notesMasterIdLst>
  <p:sldIdLst>
    <p:sldId xmlns:r="http://schemas.openxmlformats.org/officeDocument/2006/relationships" id="256" r:id="R0286eeacee004a1a"/>
    <p:sldId xmlns:r="http://schemas.openxmlformats.org/officeDocument/2006/relationships" id="257" r:id="Rd406305331b14f9e"/>
    <p:sldId xmlns:r="http://schemas.openxmlformats.org/officeDocument/2006/relationships" id="258" r:id="Rafe7dd09b38e402d"/>
    <p:sldId xmlns:r="http://schemas.openxmlformats.org/officeDocument/2006/relationships" id="259" r:id="Rfbfe369c2162458d"/>
    <p:sldId xmlns:r="http://schemas.openxmlformats.org/officeDocument/2006/relationships" id="260" r:id="Rddbe25ee295c4086"/>
    <p:sldId xmlns:r="http://schemas.openxmlformats.org/officeDocument/2006/relationships" id="261" r:id="R996036d907684253"/>
    <p:sldId xmlns:r="http://schemas.openxmlformats.org/officeDocument/2006/relationships" id="262" r:id="R3b6e5eb03c6e492a"/>
    <p:sldId xmlns:r="http://schemas.openxmlformats.org/officeDocument/2006/relationships" id="263" r:id="Rb662820f8d66482a"/>
    <p:sldId xmlns:r="http://schemas.openxmlformats.org/officeDocument/2006/relationships" id="264" r:id="Ree3002a0411a47c1"/>
    <p:sldId xmlns:r="http://schemas.openxmlformats.org/officeDocument/2006/relationships" id="265" r:id="R6b6dafb62dc948cb"/>
    <p:sldId xmlns:r="http://schemas.openxmlformats.org/officeDocument/2006/relationships" id="266" r:id="R7418daba9d464a24"/>
  </p:sldIdLst>
  <p:sldSz cx="13716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b999bd7f24c66" /><Relationship Type="http://schemas.openxmlformats.org/officeDocument/2006/relationships/slideMaster" Target="/ppt/slideMasters/slideMaster1.xml" Id="R3c0448d223ed4a15" /><Relationship Type="http://schemas.openxmlformats.org/officeDocument/2006/relationships/notesMaster" Target="/ppt/notesMasters/notesMaster1.xml" Id="Rdbb5027a369c4536" /><Relationship Type="http://schemas.openxmlformats.org/officeDocument/2006/relationships/presProps" Target="/ppt/presProps.xml" Id="Rb223e7b22c4e4b08" /><Relationship Type="http://schemas.openxmlformats.org/officeDocument/2006/relationships/tableStyles" Target="/ppt/tableStyles.xml" Id="Rf098dbcde6cc4ab0" /><Relationship Type="http://schemas.openxmlformats.org/officeDocument/2006/relationships/slide" Target="/ppt/slides/slide1.xml" Id="R0286eeacee004a1a" /><Relationship Type="http://schemas.openxmlformats.org/officeDocument/2006/relationships/slide" Target="/ppt/slides/slide2.xml" Id="Rd406305331b14f9e" /><Relationship Type="http://schemas.openxmlformats.org/officeDocument/2006/relationships/slide" Target="/ppt/slides/slide3.xml" Id="Rafe7dd09b38e402d" /><Relationship Type="http://schemas.openxmlformats.org/officeDocument/2006/relationships/slide" Target="/ppt/slides/slide4.xml" Id="Rfbfe369c2162458d" /><Relationship Type="http://schemas.openxmlformats.org/officeDocument/2006/relationships/slide" Target="/ppt/slides/slide5.xml" Id="Rddbe25ee295c4086" /><Relationship Type="http://schemas.openxmlformats.org/officeDocument/2006/relationships/slide" Target="/ppt/slides/slide6.xml" Id="R996036d907684253" /><Relationship Type="http://schemas.openxmlformats.org/officeDocument/2006/relationships/slide" Target="/ppt/slides/slide7.xml" Id="R3b6e5eb03c6e492a" /><Relationship Type="http://schemas.openxmlformats.org/officeDocument/2006/relationships/slide" Target="/ppt/slides/slide8.xml" Id="Rb662820f8d66482a" /><Relationship Type="http://schemas.openxmlformats.org/officeDocument/2006/relationships/slide" Target="/ppt/slides/slide9.xml" Id="Ree3002a0411a47c1" /><Relationship Type="http://schemas.openxmlformats.org/officeDocument/2006/relationships/slide" Target="/ppt/slides/slide10.xml" Id="R6b6dafb62dc948cb" /><Relationship Type="http://schemas.openxmlformats.org/officeDocument/2006/relationships/slide" Target="/ppt/slides/slide11.xml" Id="R7418daba9d464a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5ab3fe8b442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931db436b47b6" /><Relationship Type="http://schemas.openxmlformats.org/officeDocument/2006/relationships/notesMaster" Target="/ppt/notesMasters/notesMaster1.xml" Id="Rd4b829914ea345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a3c60a3564494" /><Relationship Type="http://schemas.openxmlformats.org/officeDocument/2006/relationships/notesMaster" Target="/ppt/notesMasters/notesMaster1.xml" Id="R333e1bd4252143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7f60213484c25" /><Relationship Type="http://schemas.openxmlformats.org/officeDocument/2006/relationships/notesMaster" Target="/ppt/notesMasters/notesMaster1.xml" Id="R442805ae405645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932eb16ed34c85" /><Relationship Type="http://schemas.openxmlformats.org/officeDocument/2006/relationships/notesMaster" Target="/ppt/notesMasters/notesMaster1.xml" Id="R8b9c9ad33d8948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d2159d23ec442b" /><Relationship Type="http://schemas.openxmlformats.org/officeDocument/2006/relationships/notesMaster" Target="/ppt/notesMasters/notesMaster1.xml" Id="R4ba033e8b8dd42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d4c6d5d74b42a6" /><Relationship Type="http://schemas.openxmlformats.org/officeDocument/2006/relationships/notesMaster" Target="/ppt/notesMasters/notesMaster1.xml" Id="R5ca302b3d7864c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6bfcfe4ae244ff" /><Relationship Type="http://schemas.openxmlformats.org/officeDocument/2006/relationships/notesMaster" Target="/ppt/notesMasters/notesMaster1.xml" Id="R98f5cbafedeb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acd240ba9f4945" /><Relationship Type="http://schemas.openxmlformats.org/officeDocument/2006/relationships/notesMaster" Target="/ppt/notesMasters/notesMaster1.xml" Id="R5f14ec7756114f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e2e560567040f9" /><Relationship Type="http://schemas.openxmlformats.org/officeDocument/2006/relationships/notesMaster" Target="/ppt/notesMasters/notesMaster1.xml" Id="R1290e09512884f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7eb8979ac24085" /><Relationship Type="http://schemas.openxmlformats.org/officeDocument/2006/relationships/notesMaster" Target="/ppt/notesMasters/notesMaster1.xml" Id="Rd0127eec926b44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1bfa7a00114e49" /><Relationship Type="http://schemas.openxmlformats.org/officeDocument/2006/relationships/notesMaster" Target="/ppt/notesMasters/notesMaster1.xml" Id="R37c79453479a41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menu_provas, cadastrar_prova, selecionar_prova.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gerenciar_questoes, alterar_gabarito.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menu_participantes, importar_participantes, cadastrar_participante.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menu_gabarito, alterar_gabarito, exibir_gabarito.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cadastrar_ou_importar_gabarito, cadastrar_gabarito_manual.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menu_respostas, registrar_respostas_manual, importar_respostas, executar_correcao.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menu_resultados, consultar_resultado, exibir_classificacao, exportar_resultados.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menu_relatorios, exibir_estatisticas, exibir_desempenho.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menu_historico, exibir_gabarito, executar_correcao.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primária: ZIP enviado em 24/09/2026. main.py: menu, exigir_prova, ler_inteiro, ler_float, ler_sim_nao. Regras de persistência e cálculo: sistema.py. As setas indicam transição para a operação à direita. Retornos descritos no rodapé.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315138705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64905c819a46c9" /><Relationship Type="http://schemas.openxmlformats.org/officeDocument/2006/relationships/slideLayout" Target="/ppt/slideLayouts/slideLayout1.xml" Id="Rdcc05e20f5af46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c05e20f5af46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c53f01c304ed8" /><Relationship Type="http://schemas.openxmlformats.org/officeDocument/2006/relationships/notesSlide" Target="/ppt/notesSlides/notesSlide1.xml" Id="R5db9c8279e9548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0fa6524c5478c" /><Relationship Type="http://schemas.openxmlformats.org/officeDocument/2006/relationships/notesSlide" Target="/ppt/notesSlides/notesSlide2.xml" Id="R93c96c162c9643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52ccd9f504290" /><Relationship Type="http://schemas.openxmlformats.org/officeDocument/2006/relationships/notesSlide" Target="/ppt/notesSlides/notesSlide3.xml" Id="R3e0904937c10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21bb850b84aa6" /><Relationship Type="http://schemas.openxmlformats.org/officeDocument/2006/relationships/notesSlide" Target="/ppt/notesSlides/notesSlide4.xml" Id="R4b72d68e1a7142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bad83d33f4817" /><Relationship Type="http://schemas.openxmlformats.org/officeDocument/2006/relationships/notesSlide" Target="/ppt/notesSlides/notesSlide5.xml" Id="R82e9d880479847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ad09a49c64071" /><Relationship Type="http://schemas.openxmlformats.org/officeDocument/2006/relationships/notesSlide" Target="/ppt/notesSlides/notesSlide6.xml" Id="R9b5fc592150440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76eb343114e77" /><Relationship Type="http://schemas.openxmlformats.org/officeDocument/2006/relationships/notesSlide" Target="/ppt/notesSlides/notesSlide7.xml" Id="R762e040029884e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c46601c9e4dfc" /><Relationship Type="http://schemas.openxmlformats.org/officeDocument/2006/relationships/notesSlide" Target="/ppt/notesSlides/notesSlide8.xml" Id="R9c363d7eddf349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c96f472504e0a" /><Relationship Type="http://schemas.openxmlformats.org/officeDocument/2006/relationships/notesSlide" Target="/ppt/notesSlides/notesSlide9.xml" Id="R7a6ecbb2c5b747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53496231448a4" /><Relationship Type="http://schemas.openxmlformats.org/officeDocument/2006/relationships/notesSlide" Target="/ppt/notesSlides/notesSlide10.xml" Id="Raf23439b7aa2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bda96957a4a02" /><Relationship Type="http://schemas.openxmlformats.org/officeDocument/2006/relationships/notesSlide" Target="/ppt/notesSlides/notesSlide11.xml" Id="R1f5bea6e199340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0234F1-F7CD-4293-93DF-50ECCFB6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31ECC-EFCE-4F12-B409-D39DA436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Mapa de navegação geral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45F33-003E-4F2C-B37C-A498CAD8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Início da execução: menu principal, sem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C6635-E05C-4AAB-93B3-DED47028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C9659-9D1E-4EEF-B4DF-28112675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CC7DD-0FAE-42B3-B74B-DE927A9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248BD-40A6-4E91-A027-B2092013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5076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Olimpíadas, provas e questões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F0912-784E-487F-9531-71016C3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49FBA-7414-4B9E-AA84-E8ECC625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15076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Menu de olimpíadas, provas e questões · página 2</a:t>
            </a:r>
          </a:p>
        </p:txBody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659857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34894-DAB3-410D-9126-2322634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5138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0BA54-FC94-4DFC-B6C5-C3B88C50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0389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Participantes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2D977-6E0A-4C17-BC71-2F31898F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5138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F6572-4313-4F5B-9B6B-A0C0B4AF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10389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Menu de participantes · página 4</a:t>
            </a:r>
          </a:p>
        </p:txBody>
      </p:sp>
      <p:cxnSp>
        <p:nvCxnSpPr>
          <p:cNvPr id="6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325517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6E445-43BF-4F7C-A612-B83DBAE8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8B868-5538-4FF3-9D6B-DC8D2F4D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701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Gabarito oficial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65999-4E99-4B65-8735-56AB6DD5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0450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C1EAE-B7F5-4F40-95E5-7C252F45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05701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Menu de gabarito oficial · página 5</a:t>
            </a:r>
          </a:p>
        </p:txBody>
      </p: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3850482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316E1-7505-46CD-BECA-95276C43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5763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E23AB-B213-477F-B636-8320EC25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1014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4. Respostas e correção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016D1-0049-43BD-8FF6-6AD4FF3F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95763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7CD2C-1452-4F86-9EDA-57C318F7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01014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Menu de respostas e correção · página 7</a:t>
            </a:r>
          </a:p>
        </p:txBody>
      </p:sp>
      <p:cxnSp>
        <p:nvCxnSpPr>
          <p:cNvPr id="7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44457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10164F-9EDF-465D-A8CA-0307AF0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904A6-2505-4188-B26D-47A59C3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6326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5. Resultados e classificação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9874F-90E7-411A-B3F8-A096086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91075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F4F33-C03D-43EE-845A-A5BAEDEE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96326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Menu de resultados · página 8</a:t>
            </a:r>
          </a:p>
        </p:txBody>
      </p:sp>
      <p:cxnSp>
        <p:nvCxnSpPr>
          <p:cNvPr id="78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191125" y="5041107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5829E4-306A-416A-A0C6-454A99B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6388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32F6C3-3F7F-4DEE-8FAD-852373A6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1639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6. Relatórios e estatísticas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7750D-A52F-49DE-989E-21BA1FA3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86388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F9531E-5C7B-4EB9-96EE-E201FEA5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91639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Menu de relatórios e estatísticas · página 9</a:t>
            </a:r>
          </a:p>
        </p:txBody>
      </p:sp>
      <p:cxnSp>
        <p:nvCxnSpPr>
          <p:cNvPr id="83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191125" y="56364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317442-073D-4E3F-ACD6-F5D67F1E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8B598F-DF80-47DB-B786-38046DA7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86951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7. Histórico e reprocessamento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9A2026-86FF-43D9-861F-D7AD6FE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981700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06625D-AD7B-4DB9-945B-43E84748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086951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Menu de histórico e reprocessamento · página 10</a:t>
            </a:r>
          </a:p>
        </p:txBody>
      </p:sp>
      <p:cxnSp>
        <p:nvCxnSpPr>
          <p:cNvPr id="88" name=""/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5191125" y="6231732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77F281-B717-402F-AD7B-CE4FD6E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7013"/>
            <a:ext cx="4619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AC46F9-1234-4DFB-ABCD-01CAEA10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82264"/>
            <a:ext cx="4276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Sair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06CAE0-5CF9-49BC-91A6-289C9672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577013"/>
            <a:ext cx="6905625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977E13-CE99-41EC-A4E3-7D50AF7C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682264"/>
            <a:ext cx="65627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Encerramento do sistema</a:t>
            </a:r>
          </a:p>
        </p:txBody>
      </p:sp>
      <p:cxnSp>
        <p:nvCxnSpPr>
          <p:cNvPr id="93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191125" y="682704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AB6640-1041-45F0-A5E6-81737046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As opções 2 a 7 exigem uma prova selecionada. Sem seleção, o sistema mostra um aviso e permanece no menu principal.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C3C789-E706-4CF1-BD50-0423FBAD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Cada linha mostra uma escolha independente. A seta liga a opção ao seu destino. Os números de página localizam os detalhamentos.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DD04E0-200E-4E4F-A005-08FD69A2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01 / 11</a:t>
            </a:r>
          </a:p>
        </p:txBody>
      </p:sp>
    </p:spTree>
    <p:extLst>
      <p:ext uri="{BB962C8B-B14F-4D97-AF65-F5344CB8AC3E}">
        <p14:creationId xmlns:p14="http://schemas.microsoft.com/office/powerpoint/2010/main" val="980859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6BC737-E442-4A00-A1FE-BE7343E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E1F95-938E-4D49-AE69-F21701CC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Olimpíadas, provas e questões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5DAFC-EE81-4E35-8133-8284CFFB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CF546-E536-4B32-B98D-2595A08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32D6C-9962-431A-98DE-D29E891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94166-FC11-49EF-835B-3BCB0D66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AE0DA-F855-48A4-936E-2F5D2C70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509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Cadastrar olimpíada/prova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7288-7432-489A-96A2-C474A77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4B670-6814-4BED-9319-5C0C8F5F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3365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ID, nome e nível/categoria.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Salvar e selecionar a prova. Disciplina: Matemática.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81559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2EE8B-E9E3-424C-BA7F-30B9D38F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375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187B2-20A4-425C-834B-3645D0B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Listar/selecionar olimpíada/prova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54C25-8954-457C-9C24-030D5F6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375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C24CB-459B-462C-8672-B2ED958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9758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as provas e solicitar o ID.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Carregar os dados da prova escolhida.</a:t>
            </a:r>
          </a:p>
        </p:txBody>
      </p: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37795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0D0DB-ACAB-4869-964D-3118546C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768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BDDD9-2359-490E-BD8E-6DE1818D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295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Gerenciar questões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9E80D-249A-4EAB-8653-721E1E8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3768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B029E-35ED-4662-97FF-02D947B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6151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Abrir o menu Gerenciar questões.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Detalhamento na página 3.</a:t>
            </a:r>
          </a:p>
        </p:txBody>
      </p: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47434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9BF5E-5811-4C45-AF15-57345C1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161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1D17C-38B2-482F-8C4C-47BC87B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688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4. Configurar pontuação e regras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A446E-77FA-4007-AB4B-70CE4326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0161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F55AF-B4B6-47F3-B283-C420A10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2544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gabarito e solicitar a questão.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Alterar respostas aceitas, peso, dificuldade e anulação.</a:t>
            </a:r>
          </a:p>
        </p:txBody>
      </p:sp>
      <p:cxnSp>
        <p:nvCxnSpPr>
          <p:cNvPr id="5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570738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A3554-3510-4AA8-AED5-20E5A2A9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554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43987-DD7D-4F89-910E-37FD063E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2081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2B842-AB90-45CA-B5F1-FEAC093B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6554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ABB96-575D-445E-843A-9C319EC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520815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</a:t>
            </a:r>
          </a:p>
        </p:txBody>
      </p:sp>
      <p:cxnSp>
        <p:nvCxnSpPr>
          <p:cNvPr id="63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191125" y="667131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93CC1-126E-4464-92A2-6F3F7BE5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 seleção recalcula os resultados quando há gabarito e respostas salvas, sem criar um novo registro de histórico. A opção 4 edita uma questão do gabarito.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C47B13-0EE7-4EC7-9DE8-C2A888FD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Ao concluir as opções 1, 2 ou 4, este menu reaparece. A opção 3 abre outro menu. Sem prova ou questões, a opção 4 apenas informa a ausência.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0A2FF4-3FAD-4C28-A313-249F4AD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628842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8328E-1890-4D12-A71B-0CFAA2C5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7E175-160B-438A-9E6C-08AF69A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Gerenciar questões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713D3-0FD8-4802-80A8-3863449B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1, depois opção 3. Exige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E186D-6F47-4624-A86F-2E2DBC06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9285B-CAD0-4CCF-A8E2-D42E9DC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587CC-678E-4F59-9801-0854EB51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C11E7-6526-4FED-AD06-4207AE8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509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Listar questões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64BA3-6736-4767-BB88-8B5EC75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9FACA-0FAF-482C-8B13-06216BAD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3365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o gabarito atual, com respostas aceitas,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peso, dificuldade e situação de anulação.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81559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5ECE7-2A51-4C49-8655-EE6295F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375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D9391-F164-4676-88DA-7503B09C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Adicionar questão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D88D1-15B8-4E1C-BDBE-FC174B27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375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1C53C-535E-4110-8039-E00ECE9D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9758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respostas, peso, dificuldade e anulação.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Salvar a nova questão no gabarito.</a:t>
            </a:r>
          </a:p>
        </p:txBody>
      </p: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37795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6EDD5-1FE6-448F-A89E-F7BF426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768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24849-E1EE-477B-8F71-C0836E55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295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Alterar questão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9402F-1DB4-4396-8417-5F982A45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3768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05310-01CA-425E-AB18-D285C912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6151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o número e os novos dados da questão.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Salvar as alterações no gabarito.</a:t>
            </a:r>
          </a:p>
        </p:txBody>
      </p: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47434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A181E-5E45-413D-9299-D5638584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161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906EA-15F1-48A2-9EC5-CA1D5B02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688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4. Remover última questão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A09EF-A1F8-4490-BE7E-8BAC8A14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0161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5F83B-D4A1-46B1-B21F-6A254732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2544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Remover e salvar a última questão.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Se não houver questões, exibir aviso.</a:t>
            </a:r>
          </a:p>
        </p:txBody>
      </p:sp>
      <p:cxnSp>
        <p:nvCxnSpPr>
          <p:cNvPr id="5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570738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D6C75-F8EF-4485-AF61-D5C87B6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554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08FC6-F80E-4013-92C9-75E5E4A5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2081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A73E1-4F52-4E33-A2BF-A310B877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6554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85D89-14C2-42AD-8A89-8AF88769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520815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Olimpíadas, provas e questões.</a:t>
            </a:r>
          </a:p>
        </p:txBody>
      </p:sp>
      <p:cxnSp>
        <p:nvCxnSpPr>
          <p:cNvPr id="63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191125" y="667131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11EC25-CE1B-4DA5-93F6-653615DF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Alterações no gabarito invalidam os resultados atuais. Depois, é necessário executar a correção ou o reprocessamento com respostas compatíveis.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1DE4D-2304-4F41-8B3E-FDF611EC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As opções 1 a 4 retornam a Gerenciar questões após a conclusão normal. Sem prova selecionada, o acesso retorna ao menu de olimpíadas/provas.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82EAE-F3BA-473E-AD0E-764A4D6F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1854675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C9662-601D-4A91-9B99-C1C7FC15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53504-6E41-4A16-85FF-065FAECC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Participantes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B1D7C-BF2B-469C-800E-AB714F7E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2. Exige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CD037-206C-4655-8F8C-485F20B0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D3F67-5DCB-45A8-B6F2-8662C91C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C0BF3-53E9-4832-84E5-F1FD635B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73006-E1E4-481F-A0BA-40FE1D35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5586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Importar arquivo 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AC97E-5779-4E46-9B35-3B371860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8D1C3-B401-45A1-BF06-B5DE6871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54141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o caminho do arquivo.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Validar os dados, salvar e informar a quantidade importada.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936081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86E5F-A7B0-4469-A41D-6D934206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4738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31B1F-DCAB-4A9E-B7B8-14D83CF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499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Cadastrar manualmente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CFA82-7FC9-4650-8FED-844118AD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14738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2283C-CF02-4B0C-833D-D19866A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59054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ID, nome e categoria/nível.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Validar os campos e salvar o participante.</a:t>
            </a:r>
          </a:p>
        </p:txBody>
      </p: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41409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27133-6653-416B-914E-D01F228E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8C0DE-DA81-4CF6-B4C0-770CFB50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5411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Listar inscritos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7A57C-0F3D-4335-AA9E-1B59E26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9650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F9437-0CAC-4196-A698-27350E36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63966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ID, nome e categoria dos participantes.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Se não houver inscritos, exibir aviso.</a:t>
            </a:r>
          </a:p>
        </p:txBody>
      </p: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5345907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F3FA1-4FBE-418E-8730-380EB29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4563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730E0-4542-45A7-A413-D52078F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324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6F986-4B44-4D38-8990-4B3ED655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4563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D8E9B-8296-42D0-A499-08F23DCC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00324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65508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BA743-EB19-4F95-9A5E-791FF781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 importação substitui a lista de participantes da prova selecionada. Importar ou cadastrar participantes invalida os resultados atuais.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97AE2-2B4C-4D68-B538-3896CD3F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Ao concluir uma operação, o sistema volta ao menu Participantes.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D6D82-E367-4112-9BC7-1A4B9C65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1781886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19FB5-FE20-441C-AC0F-32C2420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B6798-9313-4308-A501-8E2F7FC4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Gabarito oficial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1B118-B411-4351-BBDA-3686EB7D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3. Exige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9DD9B-795B-4730-99D1-9CE42853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0874B-4FC6-47EF-9783-E3938E7B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E49B0-159F-4044-892E-C565B6E0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FD1AF-4390-4AE1-8AB5-4F00F323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5586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Cadastrar/importar gabarito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8BFC1-7229-47BF-931C-74ED412E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819A3-E220-4A46-BCB9-D52CF274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54141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Escolher cadastro manual ou importação de TXT.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Detalhamento na página 6.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936081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F7B22-4725-41AA-9617-3DADB329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4738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8F4F7-71E7-4141-8B10-E669D2FD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499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Alterar gabarito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A1E8D-798C-4527-BCE1-778D65A9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14738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6313A-F6FD-4ABE-BD84-5BD56B44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59054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o gabarito e solicitar o número da questão.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Editar respostas aceitas, peso, dificuldade e anulação.</a:t>
            </a:r>
          </a:p>
        </p:txBody>
      </p: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41409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14C29-5B1E-44B2-BFCF-4447ABDA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1F4E0-0118-4984-9942-3E3F17C5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5411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Exibir gabarito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6CBA2-A581-4AA3-8D84-38F244BE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9650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827ED-769E-4F71-B9F9-3FE0DEE1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63966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número, respostas aceitas, peso,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dificuldade e anulação de cada questão.</a:t>
            </a:r>
          </a:p>
        </p:txBody>
      </p: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5345907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D683B-F9E3-424D-8881-2F5AA02D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4563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944F9-B46C-487C-9C5F-A249AC9F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324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C00AA-FB90-4312-8C81-444432A1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4563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E525A-D09C-4F25-8F5C-22E26CF2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00324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65508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78CBB-C240-460C-80DA-88F1E3A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 opção 2 depende de um gabarito existente e de uma questão encontrada. Após uma alteração, o sistema solicita o reprocessamento da correção.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A12A7-89EA-4DC4-BDF9-5FF383D7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Ao concluir cada operação, o sistema volta ao menu Gabarito oficial. Se não houver gabarito nas opções 2 ou 3, exibe aviso e retorna a este menu.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79ABC-609D-4461-931B-49DF6225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869955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6FECF-1F72-44E9-9F84-005DA402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DC3C4-F35E-4DD4-B32F-472F92C9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Cadastro ou importação do gabarito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6DC45-E1AC-4BF8-A00F-0F69D6AE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3, depois opção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4948A-BB70-45FD-9CB3-646A067D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14A3C-6996-4B11-89EA-B47229E0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35500-5BDB-4A5E-A6BD-65E9CEA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82CB5-694F-45D0-8EAC-47FC1D15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0830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Cadastrar manualmente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BA88F-3531-4186-82ED-E6A5EAF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1F31E-79C2-43A4-AD3E-C41B5CF0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67940"/>
            <a:ext cx="6562725" cy="8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a quantidade de questões. Para cada questão: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respostas aceitas, peso, dificuldade e anulação.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Salvar o gabarito completo.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9813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16AA0-B51A-43D7-9E22-43A7CDE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4619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69439-C068-4648-AF4C-0091C6D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6230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Importar arquivo 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8C18B-38AC-4C51-8A20-98404CF2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05225"/>
            <a:ext cx="690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5B35A-B655-4FF5-8E41-948CCDC9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94785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o caminho do arquivo de gabarito.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Validar e salvar o gabarito na prova selecionada.</a:t>
            </a:r>
          </a:p>
        </p:txBody>
      </p: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42767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2B68A-743B-4D21-898D-32515EC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4619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4CAD2-C466-4337-B7F4-4BFD9920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1630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Qualquer outra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7CFC1-F17B-48FD-8889-5AF75D00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00625"/>
            <a:ext cx="690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7F42C-994B-4EC0-B6DA-FC203D9D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90185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“Opção inválida.”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Gabarito oficial.</a:t>
            </a:r>
          </a:p>
        </p:txBody>
      </p: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5572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B14C5-74D2-4680-B6F2-9E035B9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Respostas aceitas: A a E, inclusive combinações como A|B. O peso deve ser positivo. Dificuldades: FACIL, MEDIA ou DIFICIL. Anulação: S ou 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24D70-A93B-4E9A-BC04-A8F145B5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Esta escolha não tem opção “0. Voltar”. Após cadastro, importação ou escolha inválida, o sistema retorna ao menu Gabarito oficial.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0867A-93F5-4AE8-8909-1A6DBDF1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966842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8E7EF5-89C4-4515-94DD-77E81012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24F85-1757-496F-B31D-1E50047D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Respostas e correção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A7BCF-48E0-4C36-B522-67F72E48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4. Exige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5FFF0-8387-4F87-938C-CCBC9244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0F27B-8686-4573-B44B-26711D91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B4AEF-7637-436F-912F-1A2DFC44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9798E-F407-4123-AE4D-C91816E9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4768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Registrar respostas manualmente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C9F11-7432-4FA1-BC18-DDE9D0E5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E8E97-8AA3-4E4D-985A-497EE9DE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3323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ID do participante e respostas por vírgula.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Validar e salvar. O registro anterior do ID é substituído.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7352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CBF94-4A71-47AD-9D4E-37C19860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3100"/>
            <a:ext cx="4619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13909-C6D5-4EF7-A72A-105B7A1B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8043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Importar respostas 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45859-7E26-404F-B7EA-67E0CE6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13100"/>
            <a:ext cx="6905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A1F37-FC26-42EB-A5D4-EA5B340D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56598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o caminho. Importar registros válidos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 apresentar contagens e inconsistências.</a:t>
            </a:r>
          </a:p>
        </p:txBody>
      </p: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35385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FD5CF-4201-418E-B8D6-4A96BE98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6375"/>
            <a:ext cx="4619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34B93-A1DA-4CF6-AA55-6872F213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317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Validar/exibir inconsistências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95549-2552-421E-A9E7-1F28A093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16375"/>
            <a:ext cx="6905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ED0F7-D263-4770-900E-6D9055FA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59872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as inconsistências já registradas.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Se não houver, informar a ausência de inconsistências.</a:t>
            </a:r>
          </a:p>
        </p:txBody>
      </p:sp>
      <p:cxnSp>
        <p:nvCxnSpPr>
          <p:cNvPr id="5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4341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0C74A-CB7B-427B-A92D-7BB543F2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4619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80635-030B-4804-B57D-D27DFF25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4593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4. Executar correção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2691D-7C9B-402D-9DBB-65671F03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9650"/>
            <a:ext cx="6905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F3727-894F-4751-8263-5F132C40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63148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Validar os dados e calcular as pontuações.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Salvar resultados.csv e registrar a correção no histórico.</a:t>
            </a:r>
          </a:p>
        </p:txBody>
      </p:sp>
      <p:cxnSp>
        <p:nvCxnSpPr>
          <p:cNvPr id="6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514508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D5746-78F8-4B0E-BE06-952B4E36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2925"/>
            <a:ext cx="4619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1F6AD-A72F-4724-A305-376EC44E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7867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5. Exibir resumo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181D0-4F35-4B19-BBCE-E75A868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22925"/>
            <a:ext cx="6905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A26B2-E80E-4A79-AFD3-F0F62434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666423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quantidades de registros válidos,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inválidos e participantes corrigidos.</a:t>
            </a:r>
          </a:p>
        </p:txBody>
      </p:sp>
      <p:cxnSp>
        <p:nvCxnSpPr>
          <p:cNvPr id="68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191125" y="59483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31D5A-3724-4B4A-A60D-718346CB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6200"/>
            <a:ext cx="4619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AA5747-09B7-4EDA-AB4D-548488F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01143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33674A-81BD-4AAE-9968-252D8AF5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426200"/>
            <a:ext cx="6905625" cy="65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969A26-40B8-4324-8757-16AC716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601143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</a:t>
            </a:r>
          </a:p>
        </p:txBody>
      </p:sp>
      <p:cxnSp>
        <p:nvCxnSpPr>
          <p:cNvPr id="73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191125" y="67516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0733AF-34D9-49ED-95B3-6D984A1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 opção 3 consulta os registros existentes. A validação ocorre ao registrar/importar respostas e ao corrigir. A correção exige gabarito e respostas compatíveis.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021ED-6296-44C9-B210-6D7C2604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Ao concluir cada operação, o sistema volta ao menu Respostas e correção. A importação substitui o conjunto de respostas pelos registros válidos do arquivo.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5B1760-B321-45A0-95F1-0CF9944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</p:spTree>
    <p:extLst>
      <p:ext uri="{BB962C8B-B14F-4D97-AF65-F5344CB8AC3E}">
        <p14:creationId xmlns:p14="http://schemas.microsoft.com/office/powerpoint/2010/main" val="526071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6D753-BDE1-4CEF-A19A-92FAD0E7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1F42E-889C-4ACB-B294-D5DEC8BA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Resultados e classificação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DF9BA-90F5-437F-A194-E3E6E14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5. Exige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F6B7E-1383-444C-889E-1769BA03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F1D62-1F72-4F9E-BB26-3D556B91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8CD37-B567-4B03-99E7-58972B7C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D32E1-6083-41FF-8F33-F46A7B69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5586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Correção individual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8A748-677B-472D-BC04-77EB3F84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8BFC5-656A-4C8A-BA82-C766665F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54141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o ID e consultar o resultado calculado.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detalhes por questão, pontuação, acertos e erros.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936081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7397F-F35C-4D58-A0A8-7CC9DE02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4738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718A4-42FB-4400-812D-3FAB5DB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499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Classificação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7A6D2-A06D-4FEB-B329-F5734FF9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14738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F9F8C-BEB3-4CA2-BCED-AB71D3B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59054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categoria/nível ou pressionar Enter para todos.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posição, ID, nome e pontuação.</a:t>
            </a:r>
          </a:p>
        </p:txBody>
      </p: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41409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4692E-856F-4EED-A542-3F0AFE93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D0AAE-50FA-4CEE-AACE-89509C6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5411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Exportar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CF350-5B2F-475E-800A-8474A790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9650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EC707-842D-4326-91BC-DCAC309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63966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Informar o caminho de destino ou pressionar Enter.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Sem caminho, salvar na pasta da prova selecionada.</a:t>
            </a:r>
          </a:p>
        </p:txBody>
      </p: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5345907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5E1A3-96F6-4605-B5D0-85170936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4563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A5053-BE52-4C23-B5C0-EB80F210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324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11F26-3EB6-4094-BC60-CA1C2731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4563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D5137-D087-48A2-A65A-7030381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00324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65508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663EB-EFFC-4DFE-8523-F055F7D9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“Correção individual” consulta resultados existentes. Se o resultado não existir, orienta executar a correção. A classificação usa pontuação decrescente.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73EF1-790B-4D5C-9EAC-9EF1209F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Consultas concluídas retornam a Resultados. Sem resultados, a classificação exibe aviso. Exportar sem resultados gera erro e retorna ao menu principal.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ECB217-3394-4D23-8492-A7CD1BD5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116335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C31E2-3E7B-4E2C-A829-BA7469DA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6EBF2-7DB8-489D-A83A-A598BB8F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Relatórios e estatísticas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8D493-069C-4E66-8BA5-E7CEBD1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6. Exige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B00DC-25B6-4C75-B537-BC9D3194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A6C92-1907-4914-B6A1-5F412CDA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781B0-DB32-447D-B385-A243F2C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8C829-05D6-46A4-B6CF-10166AF2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5586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Relatório consolidado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BDE60-FEA3-4712-96A9-1B963D24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21857-CC3A-405F-AFE4-2A60787D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54141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classificação completa, sem filtro,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seguida da média e do aproveitamento médio.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936081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CAB00-B2AC-4330-A2C4-4A050D71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4738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4E3E3-0559-4502-8ED2-A65F03B2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499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Estatísticas da prova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D64EE-8C97-4CDD-8D28-53929BCE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14738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1953D-2B23-4A7B-8549-55D47722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59054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média de pontos, pontuação máxima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 aproveitamento médio em porcentagem.</a:t>
            </a:r>
          </a:p>
        </p:txBody>
      </p: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41409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1B702-E706-4BCC-A190-188EF79F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8380F-FF5C-44F4-A4B6-1ECFD240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5411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Desempenho por questão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75CDD-F155-4613-A60E-43A794EF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9650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55946-A316-4A81-A96A-620C6B31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63966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taxa de acerto e índice de discriminação.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Ordenar pelo índice de discriminação decrescente.</a:t>
            </a:r>
          </a:p>
        </p:txBody>
      </p: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5345907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9F032-8523-442D-8E50-7485314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4563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84627-D731-4E2C-B3E3-3645B75D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324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F8D87-03DD-45E2-92B6-7D379BFE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4563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FEBA7-636F-4277-9BE1-7816970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00324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65508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E96DD-EB96-40E8-A6AA-E0F1474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Os relatórios aparecem no terminal. Este menu não oferece exportação em PDF. A exportação de resultados em CSV fica no menu Resultados.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9F0A1-CA1D-4A40-9469-FE9ADCD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Após exibição, retorna a Relatórios e estatísticas. Sem resultados, as opções 1 e 2 exibem aviso. A opção 3 gera erro e retorna ao menu principal.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F5A953-BF8A-4063-ACD1-5B406211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</p:spTree>
    <p:extLst>
      <p:ext uri="{BB962C8B-B14F-4D97-AF65-F5344CB8AC3E}">
        <p14:creationId xmlns:p14="http://schemas.microsoft.com/office/powerpoint/2010/main" val="18292236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F78BC-32F4-4805-89B6-DF47A536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CEC41-FACC-4326-848C-4F52D09A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Histórico e reprocessamento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78A94-C079-4872-907B-7016818B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Acesso: menu principal, opção 7. Exige prova selecionada.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B694B-6249-4500-892C-C75FFF1C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87E50-CCF2-4BFB-8B77-0495CC03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3F836-C269-4D79-B7E6-83E000F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A75F0-35EA-4A97-AD7B-F8FED60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5586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1. Consultar correções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C6CC6-D9C8-4ED2-8754-6F33C16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65701-7B3C-42DB-9AAA-ED04C7D7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22696"/>
            <a:ext cx="6562725" cy="8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ID, data/hora, quantidade corrigida e média.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Digitar um ID abre resultados e gabarito daquela correção.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Enter retorna a este menu.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936081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ECEB6-2AD7-4DB7-82D8-8C289BE3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4738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870F1-39BD-449A-B27E-73DD6AAE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499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2. Ver registros legíveis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3B8D0-1005-44BE-A798-F5BBF299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14738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9909D-ADA5-49A1-B25E-589D27C1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59054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contagens de registros legíveis/válidos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 ilegíveis/inválidos do estado atual da prova.</a:t>
            </a:r>
          </a:p>
        </p:txBody>
      </p: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41409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D3FFC-7A31-4682-AEB0-D9656166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486DC-4BC1-4E9B-A750-6D45FB71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5411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3. Reprocessar correção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D4C16-9C3E-4DAE-A6F7-71F8151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9650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12DE5-98C2-48A2-94FC-42E2BBE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932521"/>
            <a:ext cx="6562725" cy="8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o gabarito atual e pedir confirmação S/N.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S: corrigir e registrar novo histórico.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N: cancelar o reprocessamento.</a:t>
            </a:r>
          </a:p>
        </p:txBody>
      </p: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5345907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BFCAD-CB52-407D-99E9-3C91F85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4563"/>
            <a:ext cx="4619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0B833-D692-4DA5-9F8D-9022CD42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324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0. Voltar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C370F-84AF-4D8E-B552-1AB74188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24563"/>
            <a:ext cx="6905625" cy="1052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90A93-5733-4EDF-9CA0-C2BB10FF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00324"/>
            <a:ext cx="6562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65508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219FC-1B64-4328-B5A6-84E4D47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Sem histórico, a opção 1 exibe aviso. “Registros legíveis” representa contagens de dados, sem leitura de imagens ou reconhecimento de escrita.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A21D6-14AB-402B-99A7-436892D7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Consultas, cancelamento e reprocessamento concluído retornam a este menu. Um ID histórico inexistente ou falha na correção retorna ao menu principal.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0C158-CD1E-40D7-A236-AD4C889F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54630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083217-96F4-4414-9801-F1A663B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AVALIADOR DE GABARITOS DE OLIMPÍADAS DE MATEMÁTICA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3B5F-964C-45A4-97CD-9BAD3157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53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Retornos e condições de navegação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20167-F293-4F35-BAE3-072F3E3C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257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Regras comuns aos menus e às operações do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61FE0-E7C5-45E1-AEEC-D703D9BC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OPÇÃO / SITUAÇÃO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0CEEA-3E1A-4F14-9C17-A5E27A2A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690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575"/>
                </a:solidFill>
                <a:latin typeface="Arial"/>
                <a:ea typeface="Arial"/>
                <a:cs typeface="Arial"/>
              </a:rPr>
              <a:t>DESTINO / OPERAÇÃO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E6634-EDDF-40B5-8CC4-4688DAA4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26754-773D-4B94-9C35-E4BEE60B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509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Operação concluída normalmente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8F594-8860-4751-B2DC-DE21C06E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ADEA0-D07F-44C1-BFF9-326FAAAD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3365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que chamou a operação.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As exceções de navegação aparecem nas páginas anteriores.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91125" y="281559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96239-9E8C-41C7-BBA2-2487667E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375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9F622-95AF-428B-A731-D577FDF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0 nos menus de módulos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5FA9C-D5E1-4520-B4C2-B8B6D658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375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E02B-7E4C-4241-803C-C1B809A2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9758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principal. Em Gerenciar questões,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 Olimpíadas, provas e questões.</a:t>
            </a:r>
          </a:p>
        </p:txBody>
      </p: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91125" y="377952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FF274-57ED-4FEC-A598-6132A10B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768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55DE4-40E4-4967-97A0-44B005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295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Opção inválida em um menu repetitivo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46E62-5D6B-4E5E-BCCE-39460122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3768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D7100-E165-4049-A54C-85392785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6151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aviso e apresentar novamente o mesmo menu.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 escolha de cadastro/importação é a exceção da página 6.</a:t>
            </a:r>
          </a:p>
        </p:txBody>
      </p: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191125" y="47434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1CAB0-53F6-4156-B1AC-C75D0C2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161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85C65-8A75-4BCE-A6C4-831711A6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6885"/>
            <a:ext cx="42767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Entrada numérica ou S/N inválida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B5DEC-BC0C-4A4F-A628-2E4D8844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0161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5F3BF-FA66-4CC4-80D8-504DDB44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2544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Repetir a pergunta dentro da função de leitura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até receber um valor aceito.</a:t>
            </a:r>
          </a:p>
        </p:txBody>
      </p:sp>
      <p:cxnSp>
        <p:nvCxnSpPr>
          <p:cNvPr id="5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191125" y="570738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A6FA1-6441-4A01-8C08-0DCCAB72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5545"/>
            <a:ext cx="4619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3B5E04-823C-4234-9018-2406A01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9370"/>
            <a:ext cx="4276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OSError ou ValueError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em uma operação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49B93-8AD1-40A6-B753-91F59523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65545"/>
            <a:ext cx="6905625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8A9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15442-8C70-451C-86FF-FA531007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389370"/>
            <a:ext cx="6562725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Exibir a mensagem de erro.</a:t>
            </a:r>
          </a:p>
          <a:p xmlns:a="http://schemas.openxmlformats.org/drawingml/2006/main">
            <a:pPr>
              <a:defRPr sz="172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Retornar ao menu principal, conforme o tratamento central.</a:t>
            </a:r>
          </a:p>
        </p:txBody>
      </p:sp>
      <p:cxnSp>
        <p:nvCxnSpPr>
          <p:cNvPr id="63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191125" y="667131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576A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6773B5-DDB9-4028-8BFE-524A595B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D3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D39"/>
                </a:solidFill>
                <a:latin typeface="Arial"/>
                <a:ea typeface="Arial"/>
                <a:cs typeface="Arial"/>
              </a:rPr>
              <a:t>O sistema funciona no terminal. As caixas representam opções e operações. Os fluxos documentam o código Python enviado em 24/09/2026.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A8EE7-F5E7-446A-A8AF-A4AC651C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176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Fonte: corretor_provas/main.py e corretor_provas/sistema.py, do arquivo Avaliador_Gabaritos_Olimpiadas_Matematica(1).zip.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4108E1-9F8D-45B8-BEAE-184364D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096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5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399251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2026-09-24T13:56:51.7430000Z</dcterms:created>
  <dcterms:modified xsi:type="dcterms:W3CDTF">2026-09-24T13:56:51.7430000Z</dcterms:modified>
</coreProperties>
</file>